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b53a5d3a11408e" /><Relationship Type="http://schemas.openxmlformats.org/officeDocument/2006/relationships/extended-properties" Target="/docProps/app.xml" Id="Rb4beda38c6554ca8" /><Relationship Type="http://schemas.openxmlformats.org/officeDocument/2006/relationships/officeDocument" Target="/ppt/presentation.xml" Id="R63617decc938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f826d6d36240fe"/>
  </p:sldMasterIdLst>
  <p:notesMasterIdLst>
    <p:notesMasterId xmlns:r="http://schemas.openxmlformats.org/officeDocument/2006/relationships" r:id="R1aabfc4e3fb94940"/>
  </p:notesMasterIdLst>
  <p:sldIdLst>
    <p:sldId xmlns:r="http://schemas.openxmlformats.org/officeDocument/2006/relationships" id="256" r:id="Ra43a030448e84b33"/>
    <p:sldId xmlns:r="http://schemas.openxmlformats.org/officeDocument/2006/relationships" id="257" r:id="R42f6812e9dae4f63"/>
    <p:sldId xmlns:r="http://schemas.openxmlformats.org/officeDocument/2006/relationships" id="258" r:id="R7fca905e57744090"/>
    <p:sldId xmlns:r="http://schemas.openxmlformats.org/officeDocument/2006/relationships" id="259" r:id="R2eb9f76f6f1e4084"/>
    <p:sldId xmlns:r="http://schemas.openxmlformats.org/officeDocument/2006/relationships" id="260" r:id="R8f9d3f9f3e0f4160"/>
    <p:sldId xmlns:r="http://schemas.openxmlformats.org/officeDocument/2006/relationships" id="261" r:id="R93d29eb93c474141"/>
    <p:sldId xmlns:r="http://schemas.openxmlformats.org/officeDocument/2006/relationships" id="262" r:id="R67b36a385baa417d"/>
    <p:sldId xmlns:r="http://schemas.openxmlformats.org/officeDocument/2006/relationships" id="263" r:id="R982f43706ae947b2"/>
    <p:sldId xmlns:r="http://schemas.openxmlformats.org/officeDocument/2006/relationships" id="264" r:id="Rea5c742f13b747da"/>
    <p:sldId xmlns:r="http://schemas.openxmlformats.org/officeDocument/2006/relationships" id="265" r:id="R388305303d3544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a5444bb08148d6" /><Relationship Type="http://schemas.openxmlformats.org/officeDocument/2006/relationships/slideMaster" Target="/ppt/slideMasters/slideMaster1.xml" Id="Re0f826d6d36240fe" /><Relationship Type="http://schemas.openxmlformats.org/officeDocument/2006/relationships/notesMaster" Target="/ppt/notesMasters/notesMaster1.xml" Id="R1aabfc4e3fb94940" /><Relationship Type="http://schemas.openxmlformats.org/officeDocument/2006/relationships/presProps" Target="/ppt/presProps.xml" Id="R23d3ee95b6fc46ac" /><Relationship Type="http://schemas.openxmlformats.org/officeDocument/2006/relationships/tableStyles" Target="/ppt/tableStyles.xml" Id="Ree4a6314ee8743b2" /><Relationship Type="http://schemas.openxmlformats.org/officeDocument/2006/relationships/slide" Target="/ppt/slides/slide1.xml" Id="Ra43a030448e84b33" /><Relationship Type="http://schemas.openxmlformats.org/officeDocument/2006/relationships/slide" Target="/ppt/slides/slide2.xml" Id="R42f6812e9dae4f63" /><Relationship Type="http://schemas.openxmlformats.org/officeDocument/2006/relationships/slide" Target="/ppt/slides/slide3.xml" Id="R7fca905e57744090" /><Relationship Type="http://schemas.openxmlformats.org/officeDocument/2006/relationships/slide" Target="/ppt/slides/slide4.xml" Id="R2eb9f76f6f1e4084" /><Relationship Type="http://schemas.openxmlformats.org/officeDocument/2006/relationships/slide" Target="/ppt/slides/slide5.xml" Id="R8f9d3f9f3e0f4160" /><Relationship Type="http://schemas.openxmlformats.org/officeDocument/2006/relationships/slide" Target="/ppt/slides/slide6.xml" Id="R93d29eb93c474141" /><Relationship Type="http://schemas.openxmlformats.org/officeDocument/2006/relationships/slide" Target="/ppt/slides/slide7.xml" Id="R67b36a385baa417d" /><Relationship Type="http://schemas.openxmlformats.org/officeDocument/2006/relationships/slide" Target="/ppt/slides/slide8.xml" Id="R982f43706ae947b2" /><Relationship Type="http://schemas.openxmlformats.org/officeDocument/2006/relationships/slide" Target="/ppt/slides/slide9.xml" Id="Rea5c742f13b747da" /><Relationship Type="http://schemas.openxmlformats.org/officeDocument/2006/relationships/slide" Target="/ppt/slides/slide10.xml" Id="R388305303d3544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ec9583fc4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617b6a948463e" /><Relationship Type="http://schemas.openxmlformats.org/officeDocument/2006/relationships/notesMaster" Target="/ppt/notesMasters/notesMaster1.xml" Id="Rf13ad15f500340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a1d4cc44a49bd" /><Relationship Type="http://schemas.openxmlformats.org/officeDocument/2006/relationships/notesMaster" Target="/ppt/notesMasters/notesMaster1.xml" Id="R966119e8ded1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d4db2ee2442fe" /><Relationship Type="http://schemas.openxmlformats.org/officeDocument/2006/relationships/notesMaster" Target="/ppt/notesMasters/notesMaster1.xml" Id="Rc7ab6b6e5738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b8f74dbe8344de" /><Relationship Type="http://schemas.openxmlformats.org/officeDocument/2006/relationships/notesMaster" Target="/ppt/notesMasters/notesMaster1.xml" Id="R6576f21d867845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24ada8fba34b6b" /><Relationship Type="http://schemas.openxmlformats.org/officeDocument/2006/relationships/notesMaster" Target="/ppt/notesMasters/notesMaster1.xml" Id="R629315cced89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e980c7d434b58" /><Relationship Type="http://schemas.openxmlformats.org/officeDocument/2006/relationships/notesMaster" Target="/ppt/notesMasters/notesMaster1.xml" Id="R07f0157c296843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36fcbe58e84578" /><Relationship Type="http://schemas.openxmlformats.org/officeDocument/2006/relationships/notesMaster" Target="/ppt/notesMasters/notesMaster1.xml" Id="R73d9515a6835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6288115c9348dc" /><Relationship Type="http://schemas.openxmlformats.org/officeDocument/2006/relationships/notesMaster" Target="/ppt/notesMasters/notesMaster1.xml" Id="Rf017d50fa91a41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2ab8e3672c4d9d" /><Relationship Type="http://schemas.openxmlformats.org/officeDocument/2006/relationships/notesMaster" Target="/ppt/notesMasters/notesMaster1.xml" Id="R4a84f92deebc47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4a071dc53424d" /><Relationship Type="http://schemas.openxmlformats.org/officeDocument/2006/relationships/notesMaster" Target="/ppt/notesMasters/notesMaster1.xml" Id="R61108a71d41a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Otevřít lekci otázkou, kdy studentům graf pomohl něco pochopit a kdy je naopak zmátl.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Použít jako motivační vstup z kapitoly. Neřešit ještě typy grafů, pouze proč nestačí vložit čísla na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Cíle projít rychle. U každého cíle zmínit, kde se v hodině projeví: model, volba grafu, kontrola a úkol.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Nechat studenty chvíli říct, co by z tabulky šlo tvrdit. Pak ukázat, že bez zadaného závěru může každý sledovat něco jiného.</a:t>
            </a:r>
          </a:p>
          <a:p xmlns:a="http://schemas.openxmlformats.org/drawingml/2006/main">
            <a:r>
              <a:t>Zdroj dat: modelová anonymní anketa pro výukovou ukázku.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Zdůraznit pořadí. Student nejdříve vysloví závěr, potom teprve řeší typ grafu a vzhled slidu.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U koláčového grafu upozornit, že není výchozí volbou. Pro přesné porovnání často lépe funguje sloupcový graf.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Ukázat, že závěr je napsaný mimo graf a graf ho pouze dokládá. Nechat studenty najít, co bylo odstraněno: legenda, zbytečné efekty, celá tabulka.</a:t>
            </a:r>
          </a:p>
          <a:p xmlns:a="http://schemas.openxmlformats.org/drawingml/2006/main">
            <a:r>
              <a:t>Zdroj dat: modelová anonymní anketa pro výukovou ukázku.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Vysvětlit části na předchozím grafu: šedé mřížky jsou tiché, modrá nese data, oranžová vede oko k hlavní hodnotě.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Použít jako čistý checklist pro ústní komentář. U každého bodu uvést krátký příklad chyby, kterou pomáhá odhalit.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Poznámka: prezentace vychází z kapitoly 4 učebnice. Pokud se objeví čísla, jde o modelová data pro výukovou ukázku, ne o externí statistiku.</a:t>
            </a:r>
          </a:p>
          <a:p xmlns:a="http://schemas.openxmlformats.org/drawingml/2006/main">
            <a:r>
              <a:t>U úkolu trvat na krátkém závěru jednou větou. Reflexe má učiteli ukázat, zda studenti řeší typ grafu, pravdivost nebo jen vzhled.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03ec4e8d646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8c78080e043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e66c3cc9a47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83c2ef0c54f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13cbd780e41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751c48f97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12D68A-C625-4C57-860A-413673DDB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868441-A10F-47E1-80C2-88A207B901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B9AE8D-F863-46AE-A088-2E82D315F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B60D8D-987B-4F43-A86B-8924AC6DB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ED8CD7-063D-4AAB-AE49-F8F4051E7B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C0E1E0-4515-42EF-8BB9-7BD2E63AA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D3C458-8647-4BE3-900E-610CA3B69C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6180E8-7479-4143-9B9F-1F132C75AA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9057B8-AD39-449C-A1F8-EFC2459D3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2EC0E1-AFC0-4E20-934D-C1EA8918ED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cdfc6c6ec49f6" /><Relationship Type="http://schemas.openxmlformats.org/officeDocument/2006/relationships/slideLayout" Target="/ppt/slideLayouts/slideLayout1.xml" Id="Rcfddf68e4f8b4efb" /><Relationship Type="http://schemas.openxmlformats.org/officeDocument/2006/relationships/slideLayout" Target="/ppt/slideLayouts/slideLayout2.xml" Id="R7d94d61054354959" /><Relationship Type="http://schemas.openxmlformats.org/officeDocument/2006/relationships/slideLayout" Target="/ppt/slideLayouts/slideLayout3.xml" Id="Rfa4ad5f9b98d4cd1" /><Relationship Type="http://schemas.openxmlformats.org/officeDocument/2006/relationships/slideLayout" Target="/ppt/slideLayouts/slideLayout4.xml" Id="R287eaccc40f8423d" /><Relationship Type="http://schemas.openxmlformats.org/officeDocument/2006/relationships/slideLayout" Target="/ppt/slideLayouts/slideLayout5.xml" Id="R8489471a4ad44dea" /><Relationship Type="http://schemas.openxmlformats.org/officeDocument/2006/relationships/slideLayout" Target="/ppt/slideLayouts/slideLayout6.xml" Id="Re6bf152bc56a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df68e4f8b4efb"/>
    <p:sldLayoutId xmlns:r="http://schemas.openxmlformats.org/officeDocument/2006/relationships" id="2147483650" r:id="R7d94d61054354959"/>
    <p:sldLayoutId xmlns:r="http://schemas.openxmlformats.org/officeDocument/2006/relationships" id="2147483651" r:id="Rfa4ad5f9b98d4cd1"/>
    <p:sldLayoutId xmlns:r="http://schemas.openxmlformats.org/officeDocument/2006/relationships" id="2147483652" r:id="R287eaccc40f8423d"/>
    <p:sldLayoutId xmlns:r="http://schemas.openxmlformats.org/officeDocument/2006/relationships" id="2147483653" r:id="R8489471a4ad44dea"/>
    <p:sldLayoutId xmlns:r="http://schemas.openxmlformats.org/officeDocument/2006/relationships" id="2147483654" r:id="Re6bf152bc56a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fa3af276b4432" /><Relationship Type="http://schemas.openxmlformats.org/officeDocument/2006/relationships/notesSlide" Target="/ppt/notesSlides/notesSlide1.xml" Id="R8e013a6a76f648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e03175b8941aa" /><Relationship Type="http://schemas.openxmlformats.org/officeDocument/2006/relationships/notesSlide" Target="/ppt/notesSlides/notesSlide2.xml" Id="R8708710670654d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5928bd8dd4d93" /><Relationship Type="http://schemas.openxmlformats.org/officeDocument/2006/relationships/notesSlide" Target="/ppt/notesSlides/notesSlide3.xml" Id="R5a41f819ddde4b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52b2faf534631" /><Relationship Type="http://schemas.openxmlformats.org/officeDocument/2006/relationships/notesSlide" Target="/ppt/notesSlides/notesSlide4.xml" Id="Rc1daf98dff0649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6ead7daa34237" /><Relationship Type="http://schemas.openxmlformats.org/officeDocument/2006/relationships/notesSlide" Target="/ppt/notesSlides/notesSlide5.xml" Id="R1283ad297b45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144aded8747c2" /><Relationship Type="http://schemas.openxmlformats.org/officeDocument/2006/relationships/notesSlide" Target="/ppt/notesSlides/notesSlide6.xml" Id="R58941f641d24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8354c990c4db5" /><Relationship Type="http://schemas.openxmlformats.org/officeDocument/2006/relationships/chart" Target="/ppt/slides/charts/chart1.xml" Id="Rcb1f90f4831540db" /><Relationship Type="http://schemas.openxmlformats.org/officeDocument/2006/relationships/notesSlide" Target="/ppt/notesSlides/notesSlide7.xml" Id="R278c012df7a842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c749b00a140e2" /><Relationship Type="http://schemas.openxmlformats.org/officeDocument/2006/relationships/notesSlide" Target="/ppt/notesSlides/notesSlide8.xml" Id="Rcc31d73bb329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f0fe3149d48af" /><Relationship Type="http://schemas.openxmlformats.org/officeDocument/2006/relationships/notesSlide" Target="/ppt/notesSlides/notesSlide9.xml" Id="R05734391ed9043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9e03b445547fc" /><Relationship Type="http://schemas.openxmlformats.org/officeDocument/2006/relationships/notesSlide" Target="/ppt/notesSlides/notesSlide10.xml" Id="Rb4967eb5501c4e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Počet odpovědí</c:v>
          </c:tx>
          <c:spPr>
            <a:solidFill xmlns:a="http://schemas.openxmlformats.org/drawingml/2006/main">
              <a:srgbClr val="2F6F9F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D96F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Chat</c:v>
                </c:pt>
                <c:pt idx="1">
                  <c:v>Video</c:v>
                </c:pt>
                <c:pt idx="2">
                  <c:v>Hry</c:v>
                </c:pt>
                <c:pt idx="3">
                  <c:v>Hudba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5</c:v>
                </c:pt>
                <c:pt idx="3">
                  <c:v>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6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DCD3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F1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96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CBEBA-EB91-4E9A-BDF9-177A91B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Data, grafy a důkazy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F38DD-3C8B-4EF6-805A-2E89DFD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Jak vytvořit datový slide, který ukazuje pravdivý závěr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48277-9AD6-44A8-9525-83FC8A7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39A50-B610-4892-8EB4-8E867B2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29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Kapitola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A4A92-FBBC-4FFE-9073-94DCC5C3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1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0">
                <a:solidFill>
                  <a:srgbClr val="FFEF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FFEF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EFE7"/>
                </a:solidFill>
                <a:latin typeface="Arial"/>
                <a:ea typeface="Arial"/>
                <a:cs typeface="Arial"/>
              </a:rPr>
              <a:t>Informatika EL3</a:t>
            </a:r>
          </a:p>
        </p:txBody>
      </p:sp>
    </p:spTree>
    <p:extLst>
      <p:ext uri="{BB962C8B-B14F-4D97-AF65-F5344CB8AC3E}">
        <p14:creationId xmlns:p14="http://schemas.microsoft.com/office/powerpoint/2010/main" val="1100684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3D1CA-E8D1-4F75-81EF-28C598B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37FB4-4A9A-4C46-932A-A26AE647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Proč řešíme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563A3-FB66-4A66-9D55-DA396FD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Graf má publiku pomoci rychle pochopit význam čísel.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BDC97-C7DD-4B8E-98EA-8D7485C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819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40272-6183-4162-999F-D749F48F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335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ABB8F-C8D5-4F39-8C93-CAE5CCB1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Data mohou prezentaci dodat sílu.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08B63-2347-4E7C-BD82-E4A9589D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3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Ukazují změnu, rozdíl, problém nebo důkaz.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47C7-9814-4C43-9F24-62001A2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819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9050">
            <a:solidFill>
              <a:srgbClr val="2C9C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B2122-042C-42DF-AEF1-05A5D41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2C9C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C9C9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9C9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D4F8C-7E1C-4377-A9C6-E6EBCA9D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Publikum nemá čas hledat pointu.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7FD41-0939-4FF7-9751-E80D783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Plná tabulka na plátně obvykle nepomůže.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A9DE3-11BA-4C5F-A1AC-45BA962D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819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6D9C8"/>
          </a:solidFill>
          <a:ln xmlns:a="http://schemas.openxmlformats.org/drawingml/2006/main" w="19050">
            <a:solidFill>
              <a:srgbClr val="D96F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59DA2-BC77-4E8A-96EF-BBD3D2F1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957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854F9-7F7D-43C8-A46B-C1E196B8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Datový slide vysvětluje význam dat.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730C3-29E7-4283-A568-507F628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95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Cílem není ukázat všechno, ale říct, co z dat plyne.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08B70-7758-4142-A3DC-E5CB5CB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9186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96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9CE41-C681-4BDC-97A4-5476445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 dnes zvládneme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658E9-D3DD-46F9-9070-C9D4DC1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20467-0AFE-4C06-8E60-4A918FE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2EC2C-8C05-43D3-9F9C-DF7F097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66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Formulovat závěr dříve než graf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B06FD-6D22-475C-BA19-99DAFF8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DD395-CB0F-44A1-AC68-47AB831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CA91E-014B-4956-AB20-0A23ABA7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Rozlišit data, interpretaci a závěr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87B7B-F949-446E-8D00-30D9767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F3191-3041-47AA-822A-8957357E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8CC86-708B-4656-B8B5-4895963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Vybrat graf podle otázky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6A3BE-9353-4711-827E-2682C6F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EAD04-2492-4AE9-8AAD-6BDC67F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22E3B-F2BD-4E49-93BD-943CD13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Zvýraznit hlavní pointu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4E04B-03FB-449E-A8A4-C5E8275B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328E2-4ABE-49B0-8D9E-60D3077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E1D17-A9CD-486A-93B7-CF583A3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Odhalit graf, který může mást</a:t>
            </a:r>
          </a:p>
        </p:txBody>
      </p:sp>
    </p:spTree>
    <p:extLst>
      <p:ext uri="{BB962C8B-B14F-4D97-AF65-F5344CB8AC3E}">
        <p14:creationId xmlns:p14="http://schemas.microsoft.com/office/powerpoint/2010/main" val="330368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CC45D-75B9-4C81-A9CE-9CACA4F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35545-AFB2-476A-98E5-997A8E85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Čísla sama nevysvětlují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3D86C-BEB7-447A-AB56-09EDEDF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Publikum potřebuje vědět, co si má z dat odnést.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2A3F-8CC6-48AB-8C7E-9EEA3D63F3B0}"/>
              </a:ext>
            </a:extLst>
          </p:cNvPr>
          <p:cNvGraphicFramePr/>
          <p:nvPr/>
        </p:nvGraphicFramePr>
        <p:xfrm>
          <a:off xmlns:a="http://schemas.openxmlformats.org/drawingml/2006/main" x="952500" y="196215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17145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Aplikace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T w="9525">
                      <a:solidFill>
                        <a:srgbClr val="D7D2C8"/>
                      </a:solidFill>
                      <a:prstDash val="solid"/>
                    </a:lnT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Počet odpovědí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2C8"/>
                      </a:solidFill>
                      <a:prstDash val="solid"/>
                    </a:lnR>
                    <a:lnT w="9525">
                      <a:solidFill>
                        <a:srgbClr val="D7D2C8"/>
                      </a:solidFill>
                      <a:prstDash val="solid"/>
                    </a:lnT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2F6F9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Chat</a:t>
                      </a:r>
                    </a:p>
                  </a:txBody>
                  <a:tcPr marL="133350" marR="133350" marT="76200" marB="7620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Video</a:t>
                      </a:r>
                    </a:p>
                  </a:txBody>
                  <a:tcPr marL="133350" marR="133350" marT="76200" marB="7620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33350" marR="133350" marT="76200" marB="76200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Hry</a:t>
                      </a:r>
                    </a:p>
                  </a:txBody>
                  <a:tcPr marL="133350" marR="133350" marT="76200" marB="7620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76200" marB="76200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Hudba</a:t>
                      </a:r>
                    </a:p>
                  </a:txBody>
                  <a:tcPr marL="133350" marR="133350" marT="76200" marB="7620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33350" marR="133350" marT="76200" marB="76200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AEF61-96E9-40EF-BAD4-840E22C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89687-9B55-4D2C-8ADE-63347CC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Otázka pro třídu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59BB-A51E-46D6-999E-5A340A0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Co z těchto čísel má publikum pochopit?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7706C-DC36-4326-B767-1C32123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Bez pointy je tabulka jen materiál k hledání.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D3996-270A-4C20-829F-21E7AB8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7012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E1935-0385-46CC-9D7D-376B965B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D7CAA-3F0B-4FFA-8B39-80EE035F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Od dat k závěru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715E1-A8CC-4603-BDFF-BA2C120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Graf má podpořit myšlenku, kterou už umíme pojmenovat.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5E968-A49B-421E-AB37-238291CA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5717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822C6-CF34-4AD4-9FDF-EAD48DE2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C58BC-18BD-4A4E-B855-7B0DD011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hodnoty, odpovědi, měření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4E426-C795-4461-957C-B61EFC4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6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99445-3D03-4A0B-AA9C-0717562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05050"/>
            <a:ext cx="25717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9050">
            <a:solidFill>
              <a:srgbClr val="2C9C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333D1-AF4A-4AE5-A169-75868A72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2C9C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C9C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9C92"/>
                </a:solidFill>
                <a:latin typeface="Arial"/>
                <a:ea typeface="Arial"/>
                <a:cs typeface="Arial"/>
              </a:rPr>
              <a:t>Interpretace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CEBB6-4C08-4B77-8C0F-06782FC9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86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co z dat čteme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A08F-CA06-4625-8590-A5877717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28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6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816A-BEFA-4568-8D69-74F5148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25717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6D9C8"/>
          </a:solidFill>
          <a:ln xmlns:a="http://schemas.openxmlformats.org/drawingml/2006/main" w="19050">
            <a:solidFill>
              <a:srgbClr val="D96F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CBB97-E771-4F3F-8484-3595301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Závěr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47677-BA84-4ABD-9318-8EF0B968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věta pro publikum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8756F-6933-475D-8268-59A22DA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Kontrolní věta: Z těchto dat plyne, že...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AF99A-28D9-4FBB-A915-E2914041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9097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ED1F-E9D5-4C99-867B-E301CEB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7835F-A2DF-451D-B7C0-DEBA7C7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Volba grafu podle otázky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D8AB6-1274-4629-9574-A3D715E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Typ zobrazení vybírej podle vztahu, který chceš ukázat.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E0136-3B2C-4FE8-8192-73DE885ADE6B}"/>
              </a:ext>
            </a:extLst>
          </p:cNvPr>
          <p:cNvGraphicFramePr/>
          <p:nvPr/>
        </p:nvGraphicFramePr>
        <p:xfrm>
          <a:off xmlns:a="http://schemas.openxmlformats.org/drawingml/2006/main" x="819150" y="1733550"/>
          <a:ext xmlns:a="http://schemas.openxmlformats.org/drawingml/2006/main" cx="10572750" cy="3676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2857500"/>
                <a:gridCol w="4476750"/>
              </a:tblGrid>
              <a:tr h="6127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Chci ukázat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T w="9525">
                      <a:solidFill>
                        <a:srgbClr val="D7D2C8"/>
                      </a:solidFill>
                      <a:prstDash val="solid"/>
                    </a:lnT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2C9C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Vhodný výstup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2C8"/>
                      </a:solidFill>
                      <a:prstDash val="solid"/>
                    </a:lnR>
                    <a:lnT w="9525">
                      <a:solidFill>
                        <a:srgbClr val="D7D2C8"/>
                      </a:solidFill>
                      <a:prstDash val="solid"/>
                    </a:lnT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2C9C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Kontrolní otázka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2C8"/>
                      </a:solidFill>
                      <a:prstDash val="solid"/>
                    </a:lnR>
                    <a:lnT w="9525">
                      <a:solidFill>
                        <a:srgbClr val="D7D2C8"/>
                      </a:solidFill>
                      <a:prstDash val="solid"/>
                    </a:lnT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2C9C92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Jedno silné číslo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samotné číslo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kolik je hlavní hodnota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Porovnání kategorií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sloupcový graf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která kategorie má více nebo méně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Změna v čase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spojnicový graf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kam se vývoj posouvá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Části jednoho celku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65324"/>
                          </a:solidFill>
                          <a:latin typeface="Arial"/>
                          <a:ea typeface="Arial"/>
                          <a:cs typeface="Arial"/>
                        </a:rPr>
                        <a:t>koláčový graf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  <a:solidFill>
                      <a:srgbClr val="F6D9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jen když součet dává 100 %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Přesné hodnoty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7D2C8"/>
                      </a:solidFill>
                      <a:prstDash val="solid"/>
                    </a:lnL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tabulka v handoutu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62E"/>
                          </a:solidFill>
                          <a:latin typeface="Arial"/>
                          <a:ea typeface="Arial"/>
                          <a:cs typeface="Arial"/>
                        </a:rPr>
                        <a:t>když má publikum číst podrobnosti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7D2C8"/>
                      </a:solidFill>
                      <a:prstDash val="solid"/>
                    </a:lnR>
                    <a:lnB w="9525">
                      <a:solidFill>
                        <a:srgbClr val="D7D2C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DC639-E36B-4F85-8317-5EE5D2C3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6664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DFEBE-3746-4F1C-8DAF-85B4BAD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480BD-8E45-4375-83CC-4EB5EEF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Modelový příklad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E59FD-64A7-4674-B1B2-F4EF596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Jeden graf, jedna pointa, žádné hledání v tabulce.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ECFAC-1438-4033-9A2B-32873F2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Závěr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7DDF6-4F0E-4600-A16B-28855C8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Hudba je nejčastější volba v modelové anketě.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C5EEA-67FE-4DA0-9229-2436BA21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Na slidu zůstává jen to, co pomáhá vysvětlit závěr.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82C3020-7E91-4FAE-B472-74FF64D5CB15}"/>
              </a:ext>
            </a:extLst>
          </p:cNvPr>
          <p:cNvGraphicFramePr/>
          <p:nvPr/>
        </p:nvGraphicFramePr>
        <p:xfrm>
          <a:off xmlns:a="http://schemas.openxmlformats.org/drawingml/2006/main" x="5429250" y="1619250"/>
          <a:ext xmlns:a="http://schemas.openxmlformats.org/drawingml/2006/main" cx="5619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1f90f4831540d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FB211-1A62-425C-9524-1964622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Modelová anonymní anketa, n = 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7FAC8-39E0-4C1C-BE1F-EAAA8F3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9860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4D228-6010-49C5-B567-B2F0ED2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BC0C-5A53-4FE2-AF2E-9400C088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Jak by měl slide s daty vypadat?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5508F-5106-4847-8C7E-D1179BA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Když je všechno výrazné, nic nevede pozornost.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673B9-CD57-4A38-9135-66026E8F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6858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FEAE2"/>
          </a:solidFill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53A65-50CE-4D91-932D-D41793AA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62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Pozadí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A660E-F2FB-475E-B805-BD6A814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osy, měřítko, jednotky, kontext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5541-7AF5-4FBA-9442-6AFD6E0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5715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9E8F2"/>
          </a:solidFill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D5CA-62C2-4574-8AD1-7A65A1E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62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85C7C-E7F7-4D4E-AD61-BA99CB10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hodnoty, sloupce, křivky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D8A01-CBCF-4856-90D7-CD18166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4572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6D9C8"/>
          </a:solidFill>
          <a:ln xmlns:a="http://schemas.openxmlformats.org/drawingml/2006/main" w="19050">
            <a:solidFill>
              <a:srgbClr val="D96F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1D226-0925-42B4-81D3-5D8D806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D96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F32"/>
                </a:solidFill>
                <a:latin typeface="Arial"/>
                <a:ea typeface="Arial"/>
                <a:cs typeface="Arial"/>
              </a:rPr>
              <a:t>Zvýraznění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0DDAC-7EA8-4493-A4AF-43AE888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62E"/>
                </a:solidFill>
                <a:latin typeface="Arial"/>
                <a:ea typeface="Arial"/>
                <a:cs typeface="Arial"/>
              </a:rPr>
              <a:t>hlavní pointa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9622F-8050-4FE7-930A-A5B1C53C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Zdůrazněte jednu věc, ne celý slide.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D47B4-CD49-47B1-850B-1FBFFB2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753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7DC9E-CC22-4692-A054-7CA3455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F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B9D3-CEFF-4957-92FE-2754AC3F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Kontrola pravdivosti a čitelnosti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3DC50-80A3-4F5E-8F1F-D4C7B461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Dobrý graf projde rychlým testem před předvedením.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F22CE-90C3-41F7-B0E6-037EA0D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2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F82B-645B-4F6D-919E-4D98E86A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7AF55-1679-4042-AFC6-97E106CD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osa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2675A-E319-4078-B566-4512B90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Nezkresluje osa rozdíly?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9B4BB-3DCB-449C-BF57-7DAD8B33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2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68810-B550-4B56-9F90-C820E48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5E8BF-0B23-4B64-8DBD-BF4E7C59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jednotky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85CBB-7627-4063-9BFD-DED28365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193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Víme, co hodnoty znamenají?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80055-740D-44F2-8655-F6E434FE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2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4C065-400A-402D-A016-B4E84DBE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9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4BA01-658A-4D24-A45B-310AD0C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zdroj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7A784-EB17-4F62-91DA-AB216495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Víme, odkud data pocházejí?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EB811-9F6D-46EA-B383-6F65FC2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C8"/>
          </a:solidFill>
          <a:ln xmlns:a="http://schemas.openxmlformats.org/drawingml/2006/main" w="14288">
            <a:solidFill>
              <a:srgbClr val="D96F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4F4A2-9CFD-4EBB-847C-707D511A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316DC-A03B-4C57-A879-C0B2D37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barvy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D8DE8-382A-4315-9C79-247E6E3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Zvýrazňují správnou část?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7037E-D5C5-4D65-B742-9D64B65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C8"/>
          </a:solidFill>
          <a:ln xmlns:a="http://schemas.openxmlformats.org/drawingml/2006/main" w="14288">
            <a:solidFill>
              <a:srgbClr val="D96F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B152-5B80-4777-82DD-8584DA4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81DF1-02BE-41E6-8D60-48932509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detail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4EFF4-7DB7-45EE-A6BB-6333755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A"/>
                </a:solidFill>
                <a:latin typeface="Arial"/>
                <a:ea typeface="Arial"/>
                <a:cs typeface="Arial"/>
              </a:rPr>
              <a:t>Neukazuje graf zbytečně mnoho datových řad?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FBC21-C7ED-4998-9B76-F5EBB67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5961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1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2593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96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D3E66-58AA-4E3B-9E3C-DF209AF5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Úkol a reflexe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018E9-7538-44D3-A220-4018EF0C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Výstup z práce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5174-FB32-4DA7-959E-337C7A77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000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3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F9940-A936-4731-BF4B-E10C417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graf nebo návrh grafu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B345-5F22-430E-8565-DBE9C5B5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000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3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0B16E-DD67-4E1A-A507-2BAA62E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jedna věta závěru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9AA85-3E07-4126-8EB5-CAAB215E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4000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05F32-2E0C-4B9B-B73E-3EB1E7E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B653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5324"/>
                </a:solidFill>
                <a:latin typeface="Arial"/>
                <a:ea typeface="Arial"/>
                <a:cs typeface="Arial"/>
              </a:rPr>
              <a:t>kontrola osy, jednotek a zdroje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FFE88-1DD4-439A-9028-26D5FE82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Otázky do Google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9CC6-53D7-4A7C-9F34-C0CFFE9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20776-75F6-4741-A4AC-4198AE51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Který typ grafu už vyberu jistě?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1D0EE-2579-4728-8A04-C122D82A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13A2F-D311-4638-9B8C-316A944B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Kde by můj graf mohl publikum zmást?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6C4F5-B45B-4A53-8C61-B91B246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37DC8-1DC5-4F2F-A5B8-C9A27DE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6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62E"/>
                </a:solidFill>
                <a:latin typeface="Arial"/>
                <a:ea typeface="Arial"/>
                <a:cs typeface="Arial"/>
              </a:rPr>
              <a:t>Co upravím před odevzdáním?</a:t>
            </a:r>
          </a:p>
        </p:txBody>
      </p:sp>
    </p:spTree>
    <p:extLst>
      <p:ext uri="{BB962C8B-B14F-4D97-AF65-F5344CB8AC3E}">
        <p14:creationId xmlns:p14="http://schemas.microsoft.com/office/powerpoint/2010/main" val="337732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2026-10-12T18:56:42.2950000Z</dcterms:created>
  <dcterms:modified xsi:type="dcterms:W3CDTF">2026-10-12T18:56:42.2950000Z</dcterms:modified>
</coreProperties>
</file>